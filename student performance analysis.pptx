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D4818B-B42C-4826-B1DE-6D3B8DF1CCA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1F521-CE95-4174-A2E8-0BE54ECCEE2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85CFE-C5FF-4A00-AAFD-94E2FD8A2B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71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050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69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915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01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651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602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8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139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69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22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302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514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36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029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872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163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60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5269132-65C2-4027-A2E8-06AF5341B22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FF54358-38AF-44F6-BD5A-3DA24F972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81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464C-7B05-0B71-5BC3-7B6545261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763" y="1031966"/>
            <a:ext cx="10314474" cy="2192593"/>
          </a:xfrm>
        </p:spPr>
        <p:txBody>
          <a:bodyPr/>
          <a:lstStyle/>
          <a:p>
            <a:pPr algn="ctr"/>
            <a:r>
              <a:rPr lang="en-US" sz="6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STUDENT PERFORMANCE ANALYSIS</a:t>
            </a:r>
            <a:endParaRPr lang="en-IN" sz="6600" b="1" dirty="0">
              <a:solidFill>
                <a:schemeClr val="accent4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DEE85-50E7-9D1D-C114-04330F558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3898" y="4503174"/>
            <a:ext cx="3090068" cy="1651820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Submitted by: </a:t>
            </a:r>
          </a:p>
          <a:p>
            <a:pPr algn="l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VISMAYA M</a:t>
            </a:r>
          </a:p>
          <a:p>
            <a:pPr algn="l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DATA SCIENCE</a:t>
            </a:r>
            <a:endParaRPr lang="en-IN" sz="2400" dirty="0">
              <a:solidFill>
                <a:schemeClr val="accent4">
                  <a:lumMod val="40000"/>
                  <a:lumOff val="60000"/>
                </a:schemeClr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514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EA1C-0FB1-037B-B028-D48C0E2D7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chemeClr val="accent4">
                  <a:lumMod val="40000"/>
                  <a:lumOff val="60000"/>
                </a:schemeClr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7B850CF-4C12-189E-A0BA-A0830F784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3" y="3087330"/>
            <a:ext cx="10491019" cy="2123767"/>
          </a:xfrm>
        </p:spPr>
        <p:txBody>
          <a:bodyPr/>
          <a:lstStyle/>
          <a:p>
            <a:r>
              <a:rPr lang="en-US" dirty="0">
                <a:latin typeface="Calisto MT" panose="02040603050505030304" pitchFamily="18" charset="0"/>
                <a:cs typeface="Times New Roman" panose="02020603050405020304" pitchFamily="18" charset="0"/>
              </a:rPr>
              <a:t>The student performance dashboard is an interactive visualization tool developed to analyze and track ‘students’ academic performance efficiently.</a:t>
            </a:r>
          </a:p>
          <a:p>
            <a:r>
              <a:rPr lang="en-US" dirty="0">
                <a:latin typeface="Calisto MT" panose="02040603050505030304" pitchFamily="18" charset="0"/>
                <a:cs typeface="Times New Roman" panose="02020603050405020304" pitchFamily="18" charset="0"/>
              </a:rPr>
              <a:t> It presents key indicators such as exam scores attendance, subject wise performance, and overall grades in a structure and visual format.</a:t>
            </a:r>
          </a:p>
          <a:p>
            <a:r>
              <a:rPr lang="en-US" dirty="0">
                <a:latin typeface="Calisto MT" panose="02040603050505030304" pitchFamily="18" charset="0"/>
                <a:cs typeface="Times New Roman" panose="02020603050405020304" pitchFamily="18" charset="0"/>
              </a:rPr>
              <a:t>It helps educators and institutions identify performance trends, compare students across subject or classes and recognize areas requiring academic improvements.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01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ECA4-9AF1-6A0B-6E41-88DD91EC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OBJECTIVE</a:t>
            </a:r>
            <a:endParaRPr lang="en-IN" sz="4800" b="1" dirty="0">
              <a:solidFill>
                <a:schemeClr val="accent4">
                  <a:lumMod val="40000"/>
                  <a:lumOff val="60000"/>
                </a:schemeClr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B0BCD-2B8B-E596-C25B-CCD0F729E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2882900"/>
          </a:xfrm>
        </p:spPr>
        <p:txBody>
          <a:bodyPr/>
          <a:lstStyle/>
          <a:p>
            <a:r>
              <a:rPr lang="en-US" dirty="0">
                <a:latin typeface="Calisto MT" panose="02040603050505030304" pitchFamily="18" charset="0"/>
                <a:cs typeface="Arial" panose="020B0604020202020204" pitchFamily="34" charset="0"/>
              </a:rPr>
              <a:t>Analyze students academic performance.</a:t>
            </a:r>
          </a:p>
          <a:p>
            <a:r>
              <a:rPr lang="en-US" dirty="0">
                <a:latin typeface="Calisto MT" panose="02040603050505030304" pitchFamily="18" charset="0"/>
                <a:cs typeface="Arial" panose="020B0604020202020204" pitchFamily="34" charset="0"/>
              </a:rPr>
              <a:t>Identify trends and patterns in scores, attendance and subject wise performance. </a:t>
            </a:r>
          </a:p>
          <a:p>
            <a:r>
              <a:rPr lang="en-US" dirty="0">
                <a:latin typeface="Calisto MT" panose="02040603050505030304" pitchFamily="18" charset="0"/>
                <a:cs typeface="Arial" panose="020B0604020202020204" pitchFamily="34" charset="0"/>
              </a:rPr>
              <a:t>Compare performances across student, classes and academic periods.</a:t>
            </a:r>
          </a:p>
          <a:p>
            <a:r>
              <a:rPr lang="en-US" dirty="0">
                <a:latin typeface="Calisto MT" panose="02040603050505030304" pitchFamily="18" charset="0"/>
                <a:cs typeface="Arial" panose="020B0604020202020204" pitchFamily="34" charset="0"/>
              </a:rPr>
              <a:t>Identify low-performing and high-performing students for timely academic intervention.</a:t>
            </a:r>
          </a:p>
          <a:p>
            <a:r>
              <a:rPr lang="en-US" dirty="0">
                <a:latin typeface="Calisto MT" panose="02040603050505030304" pitchFamily="18" charset="0"/>
                <a:cs typeface="Arial" panose="020B0604020202020204" pitchFamily="34" charset="0"/>
              </a:rPr>
              <a:t>To support data-driven decision-making for educators and academic administrators</a:t>
            </a:r>
            <a:r>
              <a:rPr lang="en-US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0119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8948-198A-B2A5-A5A8-E41E0561F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365" y="497086"/>
            <a:ext cx="10515600" cy="790938"/>
          </a:xfrm>
        </p:spPr>
        <p:txBody>
          <a:bodyPr/>
          <a:lstStyle/>
          <a:p>
            <a:r>
              <a:rPr lang="en-US" sz="4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DATASET USED</a:t>
            </a:r>
            <a:endParaRPr lang="en-IN" sz="4800" b="1" dirty="0">
              <a:solidFill>
                <a:schemeClr val="accent4">
                  <a:lumMod val="40000"/>
                  <a:lumOff val="60000"/>
                </a:schemeClr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1A49B3E-4674-B687-88BD-F844F4108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86347"/>
            <a:ext cx="12192000" cy="547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332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85A8-B8DD-C9CD-AC31-8D56479E7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751" y="484187"/>
            <a:ext cx="8761413" cy="708025"/>
          </a:xfrm>
        </p:spPr>
        <p:txBody>
          <a:bodyPr>
            <a:noAutofit/>
          </a:bodyPr>
          <a:lstStyle/>
          <a:p>
            <a:r>
              <a:rPr lang="en-US" dirty="0"/>
              <a:t>  </a:t>
            </a:r>
            <a:r>
              <a:rPr lang="en-US" sz="5400" dirty="0">
                <a:solidFill>
                  <a:schemeClr val="accent4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DASHBOARD</a:t>
            </a:r>
            <a:endParaRPr lang="en-IN" sz="5400" dirty="0">
              <a:solidFill>
                <a:schemeClr val="accent4">
                  <a:lumMod val="20000"/>
                  <a:lumOff val="80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6DC295-2D05-93DF-67E4-15BBDEDC5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3884" y="2603500"/>
            <a:ext cx="7188545" cy="34163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E5EB55-A8A8-5FFB-FF8E-2C6A43FD9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71" y="1324948"/>
            <a:ext cx="11356258" cy="553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83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C194-0B93-5028-427F-157A0C58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072" y="973668"/>
            <a:ext cx="9041296" cy="706964"/>
          </a:xfrm>
        </p:spPr>
        <p:txBody>
          <a:bodyPr/>
          <a:lstStyle/>
          <a:p>
            <a:r>
              <a:rPr lang="en-US" sz="4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CRITERIA USED</a:t>
            </a:r>
            <a:endParaRPr lang="en-IN" sz="4800" b="1" dirty="0">
              <a:solidFill>
                <a:schemeClr val="accent4">
                  <a:lumMod val="40000"/>
                  <a:lumOff val="60000"/>
                </a:schemeClr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B0872-1672-3CD4-779B-BA938371F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2519106"/>
          </a:xfrm>
        </p:spPr>
        <p:txBody>
          <a:bodyPr/>
          <a:lstStyle/>
          <a:p>
            <a:r>
              <a:rPr lang="en-IN" dirty="0">
                <a:latin typeface="Calisto MT" panose="02040603050505030304" pitchFamily="18" charset="0"/>
                <a:cs typeface="Times New Roman" panose="02020603050405020304" pitchFamily="18" charset="0"/>
              </a:rPr>
              <a:t>Total Marks by Department</a:t>
            </a:r>
          </a:p>
          <a:p>
            <a:r>
              <a:rPr lang="en-IN" dirty="0">
                <a:latin typeface="Calisto MT" panose="02040603050505030304" pitchFamily="18" charset="0"/>
                <a:cs typeface="Times New Roman" panose="02020603050405020304" pitchFamily="18" charset="0"/>
              </a:rPr>
              <a:t>Total Marks by Grade</a:t>
            </a:r>
          </a:p>
          <a:p>
            <a:r>
              <a:rPr lang="en-IN" dirty="0">
                <a:latin typeface="Calisto MT" panose="02040603050505030304" pitchFamily="18" charset="0"/>
                <a:cs typeface="Times New Roman" panose="02020603050405020304" pitchFamily="18" charset="0"/>
              </a:rPr>
              <a:t>Department Strength</a:t>
            </a:r>
          </a:p>
          <a:p>
            <a:r>
              <a:rPr lang="en-IN" dirty="0">
                <a:latin typeface="Calisto MT" panose="02040603050505030304" pitchFamily="18" charset="0"/>
                <a:cs typeface="Times New Roman" panose="02020603050405020304" pitchFamily="18" charset="0"/>
              </a:rPr>
              <a:t>Attendance by Semester</a:t>
            </a:r>
          </a:p>
          <a:p>
            <a:r>
              <a:rPr lang="en-IN" dirty="0">
                <a:latin typeface="Calisto MT" panose="02040603050505030304" pitchFamily="18" charset="0"/>
                <a:cs typeface="Times New Roman" panose="02020603050405020304" pitchFamily="18" charset="0"/>
              </a:rPr>
              <a:t>Gender Distribution</a:t>
            </a:r>
          </a:p>
          <a:p>
            <a:r>
              <a:rPr lang="en-IN" dirty="0">
                <a:latin typeface="Calisto MT" panose="02040603050505030304" pitchFamily="18" charset="0"/>
                <a:cs typeface="Times New Roman" panose="02020603050405020304" pitchFamily="18" charset="0"/>
              </a:rPr>
              <a:t>Internal Marks vs External Marks </a:t>
            </a:r>
          </a:p>
        </p:txBody>
      </p:sp>
    </p:spTree>
    <p:extLst>
      <p:ext uri="{BB962C8B-B14F-4D97-AF65-F5344CB8AC3E}">
        <p14:creationId xmlns:p14="http://schemas.microsoft.com/office/powerpoint/2010/main" val="193410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44EB-1DC9-54F8-6388-B01AB754D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CONCLUSION</a:t>
            </a:r>
            <a:endParaRPr lang="en-IN" sz="4800" b="1" dirty="0">
              <a:solidFill>
                <a:schemeClr val="accent4">
                  <a:lumMod val="40000"/>
                  <a:lumOff val="60000"/>
                </a:schemeClr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744CC-D943-0257-0B54-87EDC0025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  <a:cs typeface="Times New Roman" panose="02020603050405020304" pitchFamily="18" charset="0"/>
              </a:rPr>
              <a:t>Dashboard created using tableau.</a:t>
            </a:r>
          </a:p>
          <a:p>
            <a:r>
              <a:rPr lang="en-IN" dirty="0">
                <a:latin typeface="Calisto MT" panose="02040603050505030304" pitchFamily="18" charset="0"/>
              </a:rPr>
              <a:t>Students performance analysed.</a:t>
            </a:r>
          </a:p>
          <a:p>
            <a:r>
              <a:rPr lang="en-US" dirty="0">
                <a:latin typeface="Calisto MT" panose="02040603050505030304" pitchFamily="18" charset="0"/>
              </a:rPr>
              <a:t>Key metrics like marks, attendance and subject wise performance summarized.</a:t>
            </a:r>
          </a:p>
          <a:p>
            <a:r>
              <a:rPr lang="en-US" dirty="0">
                <a:latin typeface="Calisto MT" panose="02040603050505030304" pitchFamily="18" charset="0"/>
                <a:cs typeface="Times New Roman" panose="02020603050405020304" pitchFamily="18" charset="0"/>
              </a:rPr>
              <a:t>Easy identification of performance trends and learning gaps.</a:t>
            </a:r>
          </a:p>
          <a:p>
            <a:r>
              <a:rPr lang="en-US" dirty="0">
                <a:latin typeface="Calisto MT" panose="02040603050505030304" pitchFamily="18" charset="0"/>
                <a:cs typeface="Times New Roman" panose="02020603050405020304" pitchFamily="18" charset="0"/>
              </a:rPr>
              <a:t>Helps educators recognize high achievers monitor at risk students and plan timely academic interventions. </a:t>
            </a:r>
          </a:p>
          <a:p>
            <a:endParaRPr lang="en-IN" dirty="0">
              <a:latin typeface="Calisto MT" panose="0204060305050503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437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97F6-F675-CC12-7344-C7F5A75A0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SUGGESTIONS</a:t>
            </a:r>
            <a:endParaRPr lang="en-IN" sz="4800" b="1" dirty="0">
              <a:solidFill>
                <a:schemeClr val="accent4">
                  <a:lumMod val="40000"/>
                  <a:lumOff val="60000"/>
                </a:schemeClr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8F5B6-3207-1CB4-8C82-C7CD59960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2086487"/>
          </a:xfrm>
        </p:spPr>
        <p:txBody>
          <a:bodyPr/>
          <a:lstStyle/>
          <a:p>
            <a:r>
              <a:rPr lang="en-US" dirty="0">
                <a:latin typeface="Calisto MT" panose="02040603050505030304" pitchFamily="18" charset="0"/>
                <a:cs typeface="Times New Roman" panose="02020603050405020304" pitchFamily="18" charset="0"/>
              </a:rPr>
              <a:t>Provide additional academic support and mentoring for low performing students.</a:t>
            </a:r>
          </a:p>
          <a:p>
            <a:r>
              <a:rPr lang="en-US" dirty="0">
                <a:latin typeface="Calisto MT" panose="02040603050505030304" pitchFamily="18" charset="0"/>
                <a:cs typeface="Times New Roman" panose="02020603050405020304" pitchFamily="18" charset="0"/>
              </a:rPr>
              <a:t>Use attendance monitoring to identify students at risk of poor performance early.</a:t>
            </a:r>
          </a:p>
          <a:p>
            <a:r>
              <a:rPr lang="en-US" dirty="0">
                <a:latin typeface="Calisto MT" panose="02040603050505030304" pitchFamily="18" charset="0"/>
                <a:cs typeface="Times New Roman" panose="02020603050405020304" pitchFamily="18" charset="0"/>
              </a:rPr>
              <a:t>Encourage regular performance reviews.</a:t>
            </a:r>
          </a:p>
          <a:p>
            <a:r>
              <a:rPr lang="en-US" dirty="0">
                <a:latin typeface="Calisto MT" panose="02040603050505030304" pitchFamily="18" charset="0"/>
                <a:cs typeface="Times New Roman" panose="02020603050405020304" pitchFamily="18" charset="0"/>
              </a:rPr>
              <a:t>Conduct subject wise remedial classes for areas with consistently low scores.</a:t>
            </a:r>
          </a:p>
          <a:p>
            <a:r>
              <a:rPr lang="en-US" dirty="0">
                <a:latin typeface="Calisto MT" panose="02040603050505030304" pitchFamily="18" charset="0"/>
                <a:cs typeface="Times New Roman" panose="02020603050405020304" pitchFamily="18" charset="0"/>
              </a:rPr>
              <a:t>Integrate parent teacher feedback for student improvement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3865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8B6793-97D8-636A-D04A-9F0DA70CA833}"/>
              </a:ext>
            </a:extLst>
          </p:cNvPr>
          <p:cNvSpPr txBox="1"/>
          <p:nvPr/>
        </p:nvSpPr>
        <p:spPr>
          <a:xfrm>
            <a:off x="0" y="2644170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Thankyou!!...</a:t>
            </a:r>
            <a:endParaRPr lang="en-IN" sz="9600" dirty="0">
              <a:solidFill>
                <a:schemeClr val="accent6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0443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223</TotalTime>
  <Words>254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Algerian</vt:lpstr>
      <vt:lpstr>Arial</vt:lpstr>
      <vt:lpstr>Arial Narrow</vt:lpstr>
      <vt:lpstr>Calibri</vt:lpstr>
      <vt:lpstr>Calisto MT</vt:lpstr>
      <vt:lpstr>Century Gothic</vt:lpstr>
      <vt:lpstr>Times New Roman</vt:lpstr>
      <vt:lpstr>Wingdings 3</vt:lpstr>
      <vt:lpstr>Ion Boardroom</vt:lpstr>
      <vt:lpstr>STUDENT PERFORMANCE ANALYSIS</vt:lpstr>
      <vt:lpstr>INTRODUCTION</vt:lpstr>
      <vt:lpstr>OBJECTIVE</vt:lpstr>
      <vt:lpstr>DATASET USED</vt:lpstr>
      <vt:lpstr>  DASHBOARD</vt:lpstr>
      <vt:lpstr>CRITERIA USED</vt:lpstr>
      <vt:lpstr>CONCLUSION</vt:lpstr>
      <vt:lpstr>SUGGESTIONS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Poornima M P</dc:creator>
  <cp:lastModifiedBy>vismaya m</cp:lastModifiedBy>
  <cp:revision>11</cp:revision>
  <dcterms:created xsi:type="dcterms:W3CDTF">2025-07-10T06:19:45Z</dcterms:created>
  <dcterms:modified xsi:type="dcterms:W3CDTF">2025-12-18T04:10:28Z</dcterms:modified>
</cp:coreProperties>
</file>